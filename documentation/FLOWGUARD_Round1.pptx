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18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diagram goes on this slide (keep text minimal).
Labels to place underneath:
Frontend: browser-based real-time dashboard; attention contract; decision controls; activity + metrics.
Backend: Node.js; Express; WebSocket; async task execution; intent/state management.
Tool layer: internship search; filtering; ranking; local deterministic dataset.
Technical flow: User -&gt; WebSocket -&gt; FLOWGUARD Backend -&gt; Task Manager -&gt; Tool Orchestrator -&gt; Attention Decision Engine -&gt; CONTINUE / QUEUE / INTERRUPT.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FLOWGUARD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00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Attention Contract Layer for Interruptible Real-Time Agents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should know when to work, when to wait, and when to ask.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74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05 — Interruptible Real-Time Agents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[Team Name]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 GenAI Hackathon 2026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0ECFE0-A4BB-E9BC-946B-5FCDB83D7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46435"/>
            <a:ext cx="3530991" cy="2336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Can Consume User Attention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agents can perform multi-step tasks asynchronously, but real-world interaction creates three problems: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Unnecessary interruptions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events don't always require immediate user attention.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Stale intent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change their requirements while an agent is still working.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Interrupted workflows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user changes direction or interrupts, unfinished work may continue based on outdated assumptions.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an agent decide whether an event should reach the user at all?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0" y="1463040"/>
            <a:ext cx="26517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60920" y="1965960"/>
            <a:ext cx="0" cy="32004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35040" y="2286000"/>
            <a:ext cx="26517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happens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2788920"/>
            <a:ext cx="0" cy="32004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35040" y="3108960"/>
            <a:ext cx="26517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310896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interrupt?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3611880"/>
            <a:ext cx="0" cy="32004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35040" y="3931920"/>
            <a:ext cx="26517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035040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FLOWGUARD: an attention-control layer between the agent and the user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FLOWGUARD introduces a temporary Attention Contract that defines when the agent is allowed to demand the user's attention.</a:t>
            </a:r>
            <a:endParaRPr lang="en-US" sz="14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evaluates every background event using the contract, the current intent, and the event's importance, then decides what to do with it.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the default. User attention is requested only when necessary.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371600"/>
            <a:ext cx="35661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EVENT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03720" y="1783080"/>
            <a:ext cx="0" cy="27432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20640" y="2057400"/>
            <a:ext cx="356616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2057400"/>
            <a:ext cx="35661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Contract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Current Intent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Event Importance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03720" y="2743200"/>
            <a:ext cx="0" cy="27432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3017520"/>
            <a:ext cx="3566160" cy="411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3429000"/>
            <a:ext cx="0" cy="27432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3703320"/>
            <a:ext cx="1097280" cy="411480"/>
          </a:xfrm>
          <a:prstGeom prst="rect">
            <a:avLst/>
          </a:prstGeom>
          <a:solidFill>
            <a:srgbClr val="F4F5F7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3703320"/>
            <a:ext cx="1097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3703320"/>
            <a:ext cx="1097280" cy="411480"/>
          </a:xfrm>
          <a:prstGeom prst="rect">
            <a:avLst/>
          </a:prstGeom>
          <a:solidFill>
            <a:srgbClr val="F4F5F7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3703320"/>
            <a:ext cx="1097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3703320"/>
            <a:ext cx="1097280" cy="411480"/>
          </a:xfrm>
          <a:prstGeom prst="rect">
            <a:avLst/>
          </a:prstGeom>
          <a:solidFill>
            <a:srgbClr val="F4F5F7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3703320"/>
            <a:ext cx="1097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3643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A4A53F-7F9B-7924-C64E-A923298C5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78" y="682283"/>
            <a:ext cx="8067822" cy="42326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Interruptibility + Self-Correction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User Changes Their Mind?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37160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v1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AI/ML internships"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0" y="1691640"/>
            <a:ext cx="274320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03120" y="1371600"/>
            <a:ext cx="137160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tasks running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74320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49040" y="1371600"/>
            <a:ext cx="137160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4904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corrects intent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paid AI/ML internships"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1691640"/>
            <a:ext cx="274320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94960" y="1371600"/>
            <a:ext cx="137160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v2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691640"/>
            <a:ext cx="274320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40880" y="1371600"/>
            <a:ext cx="137160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tasks checked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26680" y="2011680"/>
            <a:ext cx="0" cy="18288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2194560"/>
            <a:ext cx="6583680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2194560"/>
            <a:ext cx="0" cy="18288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2377440"/>
            <a:ext cx="1371600" cy="594360"/>
          </a:xfrm>
          <a:prstGeom prst="rect">
            <a:avLst/>
          </a:prstGeom>
          <a:solidFill>
            <a:srgbClr val="F4F5F7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237744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based on v1 marked STALE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0" y="2674620"/>
            <a:ext cx="274320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103120" y="2377440"/>
            <a:ext cx="137160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03120" y="237744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/ reject result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2674620"/>
            <a:ext cx="274320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749040" y="2377440"/>
            <a:ext cx="137160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49040" y="237744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2674620"/>
            <a:ext cx="274320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394960" y="2377440"/>
            <a:ext cx="1371600" cy="594360"/>
          </a:xfrm>
          <a:prstGeom prst="rect">
            <a:avLst/>
          </a:prstGeom>
          <a:solidFill>
            <a:srgbClr val="FFFFFF"/>
          </a:solidFill>
          <a:ln w="28575">
            <a:solidFill>
              <a:srgbClr val="1F2A4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94960" y="237744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using Intent v2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2004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mechanisms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versioning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Stale-task detection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Stale-result rejection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cancellation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replanning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32004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 result from an old intent must never overwrite a newer user decision.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Decision 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Must Earn the User's Attention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24358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FLOWGUARD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 background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handles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Non-urgent uncertainty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for a better moment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Time-critical / important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is notified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914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926080"/>
            <a:ext cx="914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4" name="Shape 4"/>
          <p:cNvSpPr/>
          <p:nvPr/>
        </p:nvSpPr>
        <p:spPr>
          <a:xfrm>
            <a:off x="1371600" y="3200400"/>
            <a:ext cx="228600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600200" y="2926080"/>
            <a:ext cx="109728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00200" y="2926080"/>
            <a:ext cx="1097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97480" y="3200400"/>
            <a:ext cx="228600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926080" y="2926080"/>
            <a:ext cx="1645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26080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3200400"/>
            <a:ext cx="228600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800600" y="2926080"/>
            <a:ext cx="1188720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1F2A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00600" y="2926080"/>
            <a:ext cx="1188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89320" y="3200400"/>
            <a:ext cx="228600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6263640" y="2880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→ Keep working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→ Defer event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→ Request attention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implementation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bidirectional communication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 → Agent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State / Event → User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&amp; Metrics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089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metrics</a:t>
            </a:r>
            <a:endParaRPr lang="en-US" sz="12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events</a:t>
            </a:r>
            <a:endParaRPr lang="en-US" sz="12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</a:t>
            </a:r>
            <a:endParaRPr lang="en-US" sz="12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2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</a:t>
            </a:r>
            <a:endParaRPr lang="en-US" sz="12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</a:t>
            </a:r>
            <a:endParaRPr lang="en-US" sz="12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tasks</a:t>
            </a:r>
            <a:endParaRPr lang="en-US" sz="12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latency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1089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</a:t>
            </a:r>
            <a:endParaRPr lang="en-US" sz="12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2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task execution</a:t>
            </a:r>
            <a:endParaRPr lang="en-US" sz="12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tool layer</a:t>
            </a:r>
            <a:endParaRPr lang="en-US" sz="12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dashboard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D9442A-04EF-1C52-73BF-8C0355662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73" y="937436"/>
            <a:ext cx="3685734" cy="18901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8BC3F4-2CA8-97AE-5937-C8F5A7105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37437"/>
            <a:ext cx="3931920" cy="18901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/ 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Agents → Attention-Aware Agents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FLOWGUARD demonstrates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execution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 continues background work.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Interruptibility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 can interrupt or defer the workflow.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awareness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 instructions invalidate outdated work.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Stale-result protection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Old results cannot overwrite newer intent.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management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agent explicitly decides whether an event deserves user attention.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137160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 voice interaction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events from camera/device sensors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sophisticated interruption policies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attention arbitration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evaluation on FDB-v3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as a device-level attention layer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FLOWGUARD: Let the agent do the work. Let the user decide when their attention matters.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634</Words>
  <Application>Microsoft Office PowerPoint</Application>
  <PresentationFormat>On-screen Show (16:9)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FLOWGUARD</dc:title>
  <dc:subject>PptxGenJS Presentation</dc:subject>
  <dc:creator>PptxGenJS</dc:creator>
  <cp:lastModifiedBy>surbhikaushal8@outlook.com</cp:lastModifiedBy>
  <cp:revision>2</cp:revision>
  <dcterms:created xsi:type="dcterms:W3CDTF">2026-09-30T15:48:09Z</dcterms:created>
  <dcterms:modified xsi:type="dcterms:W3CDTF">2026-09-30T15:53:56Z</dcterms:modified>
</cp:coreProperties>
</file>