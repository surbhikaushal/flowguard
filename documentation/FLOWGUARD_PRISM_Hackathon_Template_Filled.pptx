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Closing slide. Add the Google Form URL and a contact email before sharing. Edition 2 </a:t>
            </a:r>
            <a:r>
              <a:rPr lang="en-US" dirty="0" err="1"/>
              <a:t>organising</a:t>
            </a:r>
            <a:r>
              <a:rPr lang="en-US" dirty="0"/>
              <a:t> team for reference: Language AI - Sourabh Tiwari, Gaurav, Sanjeeth </a:t>
            </a:r>
            <a:r>
              <a:rPr lang="en-US" dirty="0" err="1"/>
              <a:t>Pothireddy</a:t>
            </a:r>
            <a:r>
              <a:rPr lang="en-US" dirty="0"/>
              <a:t>, </a:t>
            </a:r>
            <a:r>
              <a:rPr lang="en-US" dirty="0" err="1"/>
              <a:t>Gorang</a:t>
            </a:r>
            <a:r>
              <a:rPr lang="en-US" dirty="0"/>
              <a:t> Maniar; PRISM - Binny Lakra, Prakhar </a:t>
            </a:r>
            <a:r>
              <a:rPr lang="en-US" dirty="0" err="1"/>
              <a:t>Chandrakar</a:t>
            </a:r>
            <a:r>
              <a:rPr lang="en-US" dirty="0"/>
              <a:t>, Vishu Kumar; Kick-off and mentors - Giridhar Jakki, </a:t>
            </a:r>
            <a:r>
              <a:rPr lang="en-US" dirty="0" err="1"/>
              <a:t>Deepraj</a:t>
            </a:r>
            <a:r>
              <a:rPr lang="en-US" dirty="0"/>
              <a:t> Prabhakar Patkar (Language AI), </a:t>
            </a:r>
            <a:r>
              <a:rPr lang="en-US" dirty="0" err="1"/>
              <a:t>Srimanu</a:t>
            </a:r>
            <a:r>
              <a:rPr lang="en-US" dirty="0"/>
              <a:t> Prasad Nagaraju, Ashish Kumar (Tech Strategy).</a:t>
            </a: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7"/>
            <a:ext cx="5852160" cy="2127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dirty="0"/>
              <a:t>Theme ID - 05: Interruptible Real-Time Agents</a:t>
            </a:r>
          </a:p>
          <a:p>
            <a:r>
              <a:rPr dirty="0"/>
              <a:t>Team Name - </a:t>
            </a:r>
            <a:r>
              <a:rPr lang="en-US" dirty="0"/>
              <a:t>Node</a:t>
            </a:r>
            <a:endParaRPr dirty="0"/>
          </a:p>
          <a:p>
            <a:r>
              <a:rPr dirty="0"/>
              <a:t>College Name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SRM Institute of Science and Technology</a:t>
            </a:r>
            <a:endParaRPr dirty="0"/>
          </a:p>
          <a:p>
            <a:r>
              <a:rPr dirty="0"/>
              <a:t>Member Name &amp; Email 1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Surbhi Kaushal &amp; sk7391@srmist.edu.in</a:t>
            </a:r>
            <a:endParaRPr dirty="0"/>
          </a:p>
          <a:p>
            <a:r>
              <a:rPr dirty="0"/>
              <a:t>Member Name &amp; Email 2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M. </a:t>
            </a:r>
            <a:r>
              <a:rPr lang="en-US" dirty="0" err="1"/>
              <a:t>Veada</a:t>
            </a:r>
            <a:r>
              <a:rPr lang="en-US" dirty="0"/>
              <a:t> Sri &amp; vs2229@srmist.edu.in</a:t>
            </a:r>
            <a:endParaRPr dirty="0"/>
          </a:p>
          <a:p>
            <a:r>
              <a:rPr dirty="0"/>
              <a:t>Member Name &amp; Email 3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Anushka &amp; az5921@srmist.edu.in</a:t>
            </a:r>
            <a:endParaRPr dirty="0"/>
          </a:p>
          <a:p>
            <a:r>
              <a:rPr dirty="0"/>
              <a:t>Submission </a:t>
            </a:r>
            <a:r>
              <a:rPr dirty="0" err="1"/>
              <a:t>Github</a:t>
            </a:r>
            <a:r>
              <a:rPr dirty="0"/>
              <a:t> link -</a:t>
            </a:r>
            <a:r>
              <a:rPr lang="en-US" dirty="0"/>
              <a:t> https://github.com/SurbhiKaushal/FlowGuard</a:t>
            </a:r>
            <a:endParaRPr dirty="0"/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FLOWGUARD focuses on one question: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When should an autonomous agent actually demand the user's attention?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Problem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Background agents may interrupt too often and break focus.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Important events may be missed if the agent never interrupts.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User intent can change while multi-step work is still running.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Results produced from an older instruction can become stale.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Our focus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Protect the user's attention while allowing the agent to continue useful background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50800" algn="l" rtl="0">
              <a:lnSpc>
                <a:spcPct val="90000"/>
              </a:lnSpc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2800"/>
              <a:buNone/>
              <a:defRPr sz="1700"/>
            </a:pPr>
            <a:r>
              <a:rPr b="1" dirty="0"/>
              <a:t>Existing solutions and gaps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Current agent experiences can perform proactive tasks, cross-app actions and background work.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b="1" dirty="0"/>
              <a:t>Gap addressed by FLOWGUARD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There is still a need for explicit attention management during autonomous execution.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The user needs a way to say when interruptions are acceptable.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A changed instruction should invalidate affected old work.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Late results from an old intent should not silently overwrite a newer decision.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FLOWGUARD adds an Attention Contract + intent versioning + stale-result protection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BDED1-5FE7-E52B-E4D1-8FC136AD9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" y="1302043"/>
            <a:ext cx="11082617" cy="5198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1. Start the FLOWGUARD dashboard and begin background work.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2. The agent runs asynchronous tasks while the user's attention is protected.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3. Background events can be handled as CONTINUE, QUEUE or INTERRUPT.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4. Change the instruction: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Find AI/ML internships” → “Only paid AI/ML internships”.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5. FLOWGUARD changes intent version v1 → v2.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6. Tasks using the old intent become stale; affected results are rejected.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7. New work is replanned using the updated intent.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8. Dashboard shows task progress, activity and runtime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02A8B-C2E8-83A9-27B8-06C672C26850}"/>
              </a:ext>
            </a:extLst>
          </p:cNvPr>
          <p:cNvSpPr txBox="1"/>
          <p:nvPr/>
        </p:nvSpPr>
        <p:spPr>
          <a:xfrm>
            <a:off x="6664960" y="1503680"/>
            <a:ext cx="3647440" cy="2233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600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WebSocket 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Asynchronous JavaScript task execution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34E39-76F3-AB99-5853-7CC61E85C9A5}"/>
              </a:ext>
            </a:extLst>
          </p:cNvPr>
          <p:cNvSpPr txBox="1"/>
          <p:nvPr/>
        </p:nvSpPr>
        <p:spPr>
          <a:xfrm>
            <a:off x="6614160" y="3737625"/>
            <a:ext cx="3749040" cy="1987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6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tool layer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internshipTools.js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searchInternships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filterByDeadline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rankInternships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3EA8C-B120-EBAE-3996-8D0BE0AFF8F3}"/>
              </a:ext>
            </a:extLst>
          </p:cNvPr>
          <p:cNvSpPr txBox="1"/>
          <p:nvPr/>
        </p:nvSpPr>
        <p:spPr>
          <a:xfrm>
            <a:off x="838200" y="3810000"/>
            <a:ext cx="3266440" cy="2510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6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deterministic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internships.json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6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Studio Code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/ GitHub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paid API is required to run the current prototype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45A61-A997-CB26-B81C-2AF3382A067B}"/>
              </a:ext>
            </a:extLst>
          </p:cNvPr>
          <p:cNvSpPr txBox="1"/>
          <p:nvPr/>
        </p:nvSpPr>
        <p:spPr>
          <a:xfrm>
            <a:off x="838200" y="1503680"/>
            <a:ext cx="2860040" cy="2233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6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real-time dashboard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spcAft>
                <a:spcPts val="700"/>
              </a:spcAft>
              <a:buNone/>
              <a:defRPr sz="1600"/>
            </a:pPr>
            <a:r>
              <a:rPr b="1" dirty="0"/>
              <a:t>Use case: internship search while studying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A student asks the agent to find AI/ML internships but does not want constant interruptions while studying.</a:t>
            </a:r>
            <a:endParaRPr lang="en-IN" dirty="0"/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lang="en-IN" b="1" dirty="0"/>
              <a:t>FLOWGUARD</a:t>
            </a:r>
            <a:r>
              <a:rPr lang="en-IN" dirty="0"/>
              <a:t>: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• Keeps background work running.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• Protects the user's focus window.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• Queues non-urgent events.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• Requests attention only when needed.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• Accepts a changed requirement without blindly continuing old work.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• Prevents stale results from overwriting the current intent.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b="1" dirty="0"/>
              <a:t>Impact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The goal is not simply to make agents more autonomous, but to make their autonomy respectful of human 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 dirty="0">
              <a:solidFill>
                <a:srgbClr val="704EA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C8B69-4B9E-F778-221C-2B23A801E1FA}"/>
              </a:ext>
            </a:extLst>
          </p:cNvPr>
          <p:cNvSpPr txBox="1"/>
          <p:nvPr/>
        </p:nvSpPr>
        <p:spPr>
          <a:xfrm>
            <a:off x="6878320" y="1351280"/>
            <a:ext cx="4124960" cy="255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500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Demonstrated results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WebSocket communication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Asynchronous background tasks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 / Queue / Interrupt controls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Intent correction v1 → v2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Stale task/result handling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Runtime metrics and activity log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FE8CF-EF6B-076A-34D2-3F2B398A1B14}"/>
              </a:ext>
            </a:extLst>
          </p:cNvPr>
          <p:cNvSpPr txBox="1"/>
          <p:nvPr/>
        </p:nvSpPr>
        <p:spPr>
          <a:xfrm>
            <a:off x="6878320" y="3903261"/>
            <a:ext cx="43586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500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deterministic internship dataset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decision logic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Browser-based demonstration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direct Galaxy hardware integration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FDB-v3 benchmark evaluation not claimed in the current prototype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B6B4E-EE25-736A-96B0-FEBBA7DB4AA6}"/>
              </a:ext>
            </a:extLst>
          </p:cNvPr>
          <p:cNvSpPr txBox="1"/>
          <p:nvPr/>
        </p:nvSpPr>
        <p:spPr>
          <a:xfrm>
            <a:off x="924560" y="1960880"/>
            <a:ext cx="379984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>
              <a:spcAft>
                <a:spcPts val="700"/>
              </a:spcAft>
              <a:buClr>
                <a:schemeClr val="dk1"/>
              </a:buClr>
              <a:buSzPts val="1800"/>
              <a:defRPr sz="15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Attention Contract treats user attention as a controlled resource.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Intent versioning tracks changes during execution.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Stale-task detection identifies work based on old intent.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Stale-result rejection protects the latest user decision.</a:t>
            </a:r>
          </a:p>
          <a:p>
            <a:pPr marL="457200" indent="-342900">
              <a:spcAft>
                <a:spcPts val="700"/>
              </a:spcAft>
              <a:buClr>
                <a:schemeClr val="dk1"/>
              </a:buClr>
              <a:buSzPts val="1800"/>
              <a:buFont typeface="Arial"/>
              <a:buChar char="•"/>
              <a:defRPr sz="15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replanning continues work using the new intent.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Full-duplex voice interaction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More sophisticated interruption policies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Live external tools and APIs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Multimodal interruption signals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Device-level attention management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Galaxy device integration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Persistent task recovery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Multi-agent arbitration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Cross-device agent coordination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• Evaluation against FDB-v3 and other interruptible-agent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spcAft>
                <a:spcPts val="700"/>
              </a:spcAft>
              <a:buNone/>
              <a:defRPr sz="1600"/>
            </a:pPr>
            <a:r>
              <a:rPr b="1" dirty="0"/>
              <a:t>FLOWGUARD is not only a notification system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1. Attention Contract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The user explicitly defines when the agent is allowed to demand attention.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2. Intent Versioning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A user correction creates a new intent version while background work may still be running.</a:t>
            </a:r>
            <a:endParaRPr lang="en-IN" dirty="0"/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3. Stale-Result Protection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Results from an older intent are rejected instead of silently changing the current state.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4. User Control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The user can continue, queue, interrupt, defer or handle an event.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Core principle:</a:t>
            </a:r>
          </a:p>
          <a:p>
            <a:pPr marL="114300" indent="0">
              <a:spcAft>
                <a:spcPts val="700"/>
              </a:spcAft>
              <a:buNone/>
              <a:defRPr sz="1600"/>
            </a:pPr>
            <a:r>
              <a:rPr dirty="0"/>
              <a:t>“Let the agent do the work. Let the user decide when their attention matters.”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700"/>
              </a:spcAft>
              <a:buClr>
                <a:srgbClr val="63637E"/>
              </a:buClr>
              <a:buSzPts val="2800"/>
              <a:buNone/>
              <a:defRPr sz="1700"/>
            </a:pPr>
            <a:r>
              <a:rPr dirty="0"/>
              <a:t>Working prototype code — YES</a:t>
            </a:r>
            <a:endParaRPr sz="2800"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Public GitHub repo — YES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README with reproducible setup instructions — YES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Demo video —</a:t>
            </a:r>
            <a:r>
              <a:rPr lang="en-US" dirty="0"/>
              <a:t> YES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Presentation file — YES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AI Disclosure — YES in README 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APK / SDK — N/A (browser-based Node.js prototype)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GitHub Tag — PRISM_GENAI_HACKATHON_Y2026</a:t>
            </a:r>
          </a:p>
          <a:p>
            <a:pPr marL="114300" indent="0">
              <a:spcAft>
                <a:spcPts val="700"/>
              </a:spcAft>
              <a:buNone/>
              <a:defRPr sz="1700"/>
            </a:pPr>
            <a:r>
              <a:rPr dirty="0"/>
              <a:t>GitHub: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https://github.com/SurbhiKaushal/FlowGuard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51560" y="4709160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6464B"/>
                </a:solidFill>
              </a:defRPr>
            </a:pPr>
            <a:r>
              <a:t>FLOWGUARD — Attention-aware interruptible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964</Words>
  <Application>Microsoft Office PowerPoint</Application>
  <PresentationFormat>Widescreen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surbhikaushal8@outlook.com</cp:lastModifiedBy>
  <cp:revision>2</cp:revision>
  <dcterms:created xsi:type="dcterms:W3CDTF">2026-09-07T12:01:01Z</dcterms:created>
  <dcterms:modified xsi:type="dcterms:W3CDTF">2026-10-04T14:31:20Z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